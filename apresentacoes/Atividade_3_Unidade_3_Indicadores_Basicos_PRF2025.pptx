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3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0"/>
            <a:ext cx="5285232" cy="1298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164592"/>
            <a:ext cx="6309360" cy="2585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ATIVIDADE 2 - UNIDADE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38912"/>
            <a:ext cx="630936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Atividade 2: Indicadores Básicos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630936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Indicadores básicos para análise da base PRF 2025</a:t>
            </a:r>
            <a:endParaRPr sz="11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20040" y="6447222"/>
            <a:ext cx="11484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 err="1">
                <a:solidFill>
                  <a:srgbClr val="2D3C4B"/>
                </a:solidFill>
                <a:latin typeface="Aptos"/>
              </a:rPr>
              <a:t>Análise de Dados  |  PRF 2025 - https://github.com/Wellington-datastrategy/Modulo3_AD_PRF2025_SQL</a:t>
            </a:r>
            <a:r>
              <a:rPr dirty="0">
                <a:solidFill>
                  <a:srgbClr val="2D3C4B"/>
                </a:solidFill>
                <a:latin typeface="Aptos"/>
              </a:rPr>
              <a:t/>
            </a:r>
            <a:r>
              <a:rPr b="0" dirty="0">
                <a:solidFill>
                  <a:srgbClr val="2D3C4B"/>
                </a:solidFill>
                <a:latin typeface="Aptos"/>
              </a:rPr>
              <a:t/>
            </a:r>
            <a:endParaRPr sz="2400" dirty="0"/>
          </a:p>
        </p:txBody>
      </p:sp>
      <p:sp>
        <p:nvSpPr>
          <p:cNvPr id="57" name="Rounded Rectangle 56"/>
          <p:cNvSpPr/>
          <p:nvPr/>
        </p:nvSpPr>
        <p:spPr>
          <a:xfrm>
            <a:off x="256032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56032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84632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69AE"/>
                </a:solidFill>
                <a:latin typeface="Aptos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4632" y="1938528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C4B"/>
                </a:solidFill>
                <a:latin typeface="Aptos"/>
              </a:rPr>
              <a:t>Indicadores solicitados</a:t>
            </a:r>
            <a:endParaRPr sz="1400" b="0" dirty="0">
              <a:solidFill>
                <a:srgbClr val="243746"/>
              </a:solidFill>
              <a:latin typeface="Aptos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3246120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246120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474720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69AE"/>
                </a:solidFill>
                <a:latin typeface="Aptos"/>
              </a:rPr>
              <a:t>72.529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74720" y="1938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>
                <a:solidFill>
                  <a:srgbClr val="2D3C4B"/>
                </a:solidFill>
                <a:latin typeface="Aptos"/>
              </a:rPr>
              <a:t>Acidentes registrados</a:t>
            </a:r>
            <a:endParaRPr dirty="0"/>
          </a:p>
        </p:txBody>
      </p:sp>
      <p:sp>
        <p:nvSpPr>
          <p:cNvPr id="65" name="Rounded Rectangle 64"/>
          <p:cNvSpPr/>
          <p:nvPr/>
        </p:nvSpPr>
        <p:spPr>
          <a:xfrm>
            <a:off x="6236208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236208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464808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69AE"/>
                </a:solidFill>
                <a:latin typeface="Aptos"/>
              </a:rPr>
              <a:t>5.210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19555" y="1825984"/>
            <a:ext cx="2478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 dirty="0" err="1">
                <a:solidFill>
                  <a:srgbClr val="2D3C4B"/>
                </a:solidFill>
                <a:latin typeface="Aptos"/>
              </a:rPr>
              <a:t>Acidentes fatais</a:t>
            </a:r>
            <a:r>
              <a:rPr sz="1400" b="0" dirty="0">
                <a:solidFill>
                  <a:srgbClr val="2D3C4B"/>
                </a:solidFill>
                <a:latin typeface="Aptos"/>
              </a:rPr>
              <a:t/>
            </a:r>
            <a:r>
              <a:rPr sz="1400" b="0" dirty="0" err="1">
                <a:solidFill>
                  <a:srgbClr val="2D3C4B"/>
                </a:solidFill>
                <a:latin typeface="Aptos"/>
              </a:rPr>
              <a:t/>
            </a:r>
            <a:endParaRPr sz="1400" b="0" dirty="0">
              <a:solidFill>
                <a:srgbClr val="2D3C4B"/>
              </a:solidFill>
              <a:latin typeface="Aptos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9226296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226296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454896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69AE"/>
                </a:solidFill>
                <a:latin typeface="Aptos"/>
              </a:rPr>
              <a:t>2025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67440" y="1854120"/>
            <a:ext cx="2194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 dirty="0" err="1">
                <a:solidFill>
                  <a:srgbClr val="2D3C4B"/>
                </a:solidFill>
                <a:latin typeface="Aptos"/>
              </a:rPr>
              <a:t>Ano analisado</a:t>
            </a:r>
            <a:r>
              <a:rPr sz="1400" b="0" dirty="0">
                <a:solidFill>
                  <a:srgbClr val="2D3C4B"/>
                </a:solidFill>
                <a:latin typeface="Aptos"/>
              </a:rPr>
              <a:t/>
            </a:r>
            <a:r>
              <a:rPr sz="1400" b="0" dirty="0" err="1">
                <a:solidFill>
                  <a:srgbClr val="2D3C4B"/>
                </a:solidFill>
                <a:latin typeface="Aptos"/>
              </a:rPr>
              <a:t/>
            </a:r>
            <a:r>
              <a:rPr sz="1400" b="0" dirty="0">
                <a:solidFill>
                  <a:srgbClr val="2D3C4B"/>
                </a:solidFill>
                <a:latin typeface="Aptos"/>
              </a:rPr>
              <a:t/>
            </a:r>
            <a:r>
              <a:rPr sz="1400" b="0" dirty="0" err="1">
                <a:solidFill>
                  <a:srgbClr val="2D3C4B"/>
                </a:solidFill>
                <a:latin typeface="Aptos"/>
              </a:rPr>
              <a:t/>
            </a:r>
            <a:r>
              <a:rPr sz="1400" b="0" dirty="0">
                <a:solidFill>
                  <a:srgbClr val="2D3C4B"/>
                </a:solidFill>
                <a:latin typeface="Aptos"/>
              </a:rPr>
              <a:t/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0040" y="2487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324C"/>
                </a:solidFill>
                <a:latin typeface="Aptos"/>
              </a:rPr>
              <a:t>Solução executada: criar, executar e validar três consultas SQL para responder perguntas de negócio sobre a base PRF 2025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56032" y="2852928"/>
            <a:ext cx="3703320" cy="1444752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420624" y="3017520"/>
            <a:ext cx="384048" cy="384048"/>
          </a:xfrm>
          <a:prstGeom prst="ellipse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20624" y="314553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4128" y="3017520"/>
            <a:ext cx="2807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600" b="1">
                <a:solidFill>
                  <a:srgbClr val="2D3C4B"/>
                </a:solidFill>
                <a:latin typeface="Aptos"/>
              </a:rPr>
              <a:t>1. Acidentes por UF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4128" y="3383280"/>
            <a:ext cx="278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>
                <a:solidFill>
                  <a:srgbClr val="2D3C4B"/>
                </a:solidFill>
                <a:latin typeface="Aptos"/>
              </a:rPr>
              <a:t>Maior volume: MG — 9.570 acidentes
SC — 8.186 | PR — 7.630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114800" y="2852928"/>
            <a:ext cx="3703320" cy="1444752"/>
          </a:xfrm>
          <a:prstGeom prst="roundRect">
            <a:avLst/>
          </a:prstGeom>
          <a:solidFill>
            <a:srgbClr val="EAF7F3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4279392" y="3017520"/>
            <a:ext cx="384048" cy="384048"/>
          </a:xfrm>
          <a:prstGeom prst="ellipse">
            <a:avLst/>
          </a:prstGeom>
          <a:solidFill>
            <a:srgbClr val="5BA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279392" y="314553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82896" y="3017520"/>
            <a:ext cx="2807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600" b="1">
                <a:solidFill>
                  <a:srgbClr val="2D3C4B"/>
                </a:solidFill>
                <a:latin typeface="Aptos"/>
              </a:rPr>
              <a:t>2. Mortes por BR</a:t>
            </a:r>
            <a:endParaRPr dirty="0"/>
          </a:p>
        </p:txBody>
      </p:sp>
      <p:sp>
        <p:nvSpPr>
          <p:cNvPr id="83" name="TextBox 82"/>
          <p:cNvSpPr txBox="1"/>
          <p:nvPr/>
        </p:nvSpPr>
        <p:spPr>
          <a:xfrm>
            <a:off x="4882896" y="3383280"/>
            <a:ext cx="2788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>
                <a:solidFill>
                  <a:srgbClr val="2D3C4B"/>
                </a:solidFill>
                <a:latin typeface="Aptos"/>
              </a:rPr>
              <a:t>Maior volume: BR-101 — 760 mortes
BR-116 — 708 | BR-153 — 282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973568" y="2852928"/>
            <a:ext cx="3959352" cy="1444752"/>
          </a:xfrm>
          <a:prstGeom prst="roundRect">
            <a:avLst/>
          </a:prstGeom>
          <a:solidFill>
            <a:srgbClr val="FFF8E5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8138160" y="3017520"/>
            <a:ext cx="384048" cy="38404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138160" y="314553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41664" y="301752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600" b="1">
                <a:solidFill>
                  <a:srgbClr val="2D3C4B"/>
                </a:solidFill>
                <a:latin typeface="Aptos"/>
              </a:rPr>
              <a:t>3. Acidentes fatais por mês</a:t>
            </a:r>
            <a:endParaRPr dirty="0"/>
          </a:p>
        </p:txBody>
      </p:sp>
      <p:sp>
        <p:nvSpPr>
          <p:cNvPr id="88" name="TextBox 87"/>
          <p:cNvSpPr txBox="1"/>
          <p:nvPr/>
        </p:nvSpPr>
        <p:spPr>
          <a:xfrm>
            <a:off x="8726424" y="3383280"/>
            <a:ext cx="3044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>
                <a:solidFill>
                  <a:srgbClr val="2D3C4B"/>
                </a:solidFill>
                <a:latin typeface="Aptos"/>
              </a:rPr>
              <a:t>Maior volume: Maio — 504 acidentes fatais
Dezembro — 480 | Agosto — 472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56032" y="4498848"/>
            <a:ext cx="5623560" cy="12984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420624" y="4663440"/>
            <a:ext cx="384048" cy="384048"/>
          </a:xfrm>
          <a:prstGeom prst="ellipse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20624" y="479145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24128" y="4663440"/>
            <a:ext cx="4727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600" b="1">
                <a:solidFill>
                  <a:srgbClr val="2D3C4B"/>
                </a:solidFill>
                <a:latin typeface="Aptos"/>
              </a:rPr>
              <a:t>4. Operações SQL utilizadas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4128" y="5029200"/>
            <a:ext cx="4709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>
                <a:solidFill>
                  <a:srgbClr val="2D3C4B"/>
                </a:solidFill>
                <a:latin typeface="Aptos"/>
              </a:rPr>
              <a:t>COUNT(*) por UF | SUM(mortos) por BR
GROUP BY + ORDER BY para gerar os rankings</a:t>
            </a:r>
            <a:endParaRPr sz="1200" dirty="0"/>
          </a:p>
        </p:txBody>
      </p:sp>
      <p:sp>
        <p:nvSpPr>
          <p:cNvPr id="94" name="Rounded Rectangle 93"/>
          <p:cNvSpPr/>
          <p:nvPr/>
        </p:nvSpPr>
        <p:spPr>
          <a:xfrm>
            <a:off x="6016752" y="4498848"/>
            <a:ext cx="5916168" cy="1298448"/>
          </a:xfrm>
          <a:prstGeom prst="roundRect">
            <a:avLst/>
          </a:prstGeom>
          <a:solidFill>
            <a:srgbClr val="EAF7F3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6181344" y="4663440"/>
            <a:ext cx="384048" cy="384048"/>
          </a:xfrm>
          <a:prstGeom prst="ellipse">
            <a:avLst/>
          </a:prstGeom>
          <a:solidFill>
            <a:srgbClr val="5BA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181344" y="479145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84848" y="4663440"/>
            <a:ext cx="5020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600" b="1">
                <a:solidFill>
                  <a:srgbClr val="2D3C4B"/>
                </a:solidFill>
                <a:latin typeface="Aptos"/>
              </a:rPr>
              <a:t>5. Critério e validação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784848" y="5029200"/>
            <a:ext cx="5001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>
                <a:solidFill>
                  <a:srgbClr val="2D3C4B"/>
                </a:solidFill>
                <a:latin typeface="Aptos"/>
              </a:rPr>
              <a:t>Acidente fatal: mortos ≥ 1
5.210 ocorrências fatais em 2025 | 12 meses analisados</a:t>
            </a:r>
            <a:endParaRPr sz="1200" dirty="0"/>
          </a:p>
        </p:txBody>
      </p:sp>
      <p:sp>
        <p:nvSpPr>
          <p:cNvPr id="99" name="Rounded Rectangle 98"/>
          <p:cNvSpPr/>
          <p:nvPr/>
        </p:nvSpPr>
        <p:spPr>
          <a:xfrm>
            <a:off x="256032" y="5925312"/>
            <a:ext cx="11676888" cy="438912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38912" y="5897880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1">
                <a:solidFill>
                  <a:srgbClr val="2D3C4B"/>
                </a:solidFill>
                <a:latin typeface="Aptos"/>
              </a:rPr>
              <a:t>Observação: os resultados representam contagens e somas absolutas. Não permitem, isoladamente, concluir risco ou causalidade.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195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Wellington Lima</dc:creator>
  <cp:keywords/>
  <dc:description>generated using python-pptx</dc:description>
  <cp:lastModifiedBy>Wellington</cp:lastModifiedBy>
  <cp:revision>6</cp:revision>
  <dcterms:created xsi:type="dcterms:W3CDTF">2013-01-27T09:14:16Z</dcterms:created>
  <dcterms:modified xsi:type="dcterms:W3CDTF">2026-09-20T22:28:50Z</dcterms:modified>
  <cp:category/>
</cp:coreProperties>
</file>