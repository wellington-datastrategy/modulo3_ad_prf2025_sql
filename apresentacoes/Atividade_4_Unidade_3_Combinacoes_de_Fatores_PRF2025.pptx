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1039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ader_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5232" cy="1298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64592"/>
            <a:ext cx="6309360" cy="2585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ATIVIDADE 4 - UNIDADE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38912"/>
            <a:ext cx="630936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Atividade 4: Combinações de Fatores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630936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Investigação de pares de variáveis explicativas na base PRF 2025</a:t>
            </a:r>
            <a:endParaRPr sz="11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20040" y="6447222"/>
            <a:ext cx="11484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dirty="0" err="1">
                <a:solidFill>
                  <a:srgbClr val="2D3C4B"/>
                </a:solidFill>
                <a:latin typeface="Aptos"/>
              </a:rPr>
              <a:t>Análise de Dados  |  PRF 2025 - https://github.com/Wellington-datastrategy/Modulo3_AD_PRF2025_SQL</a:t>
            </a:r>
            <a:endParaRPr sz="2400" dirty="0"/>
          </a:p>
        </p:txBody>
      </p:sp>
      <p:sp>
        <p:nvSpPr>
          <p:cNvPr id="57" name="Rounded Rectangle 56"/>
          <p:cNvSpPr/>
          <p:nvPr/>
        </p:nvSpPr>
        <p:spPr>
          <a:xfrm>
            <a:off x="256032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56032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4632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rial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" y="1938528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3C4B"/>
                </a:solidFill>
                <a:latin typeface="Aptos"/>
              </a:rPr>
              <a:t>Consultas combinadas</a:t>
            </a:r>
            <a:endParaRPr sz="1400" b="0" dirty="0">
              <a:solidFill>
                <a:srgbClr val="243746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246120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46120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74720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rial"/>
              </a:rPr>
              <a:t>7,18%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1938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ptos"/>
              </a:rPr>
              <a:t>Taxa global de fatalidade</a:t>
            </a:r>
            <a:endParaRPr dirty="0"/>
          </a:p>
        </p:txBody>
      </p:sp>
      <p:sp>
        <p:nvSpPr>
          <p:cNvPr id="65" name="Rounded Rectangle 64"/>
          <p:cNvSpPr/>
          <p:nvPr/>
        </p:nvSpPr>
        <p:spPr>
          <a:xfrm>
            <a:off x="6236208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236208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64808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rial"/>
              </a:rPr>
              <a:t>500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72779" y="1825984"/>
            <a:ext cx="2478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 dirty="0" err="1">
                <a:solidFill>
                  <a:srgbClr val="2D3C4B"/>
                </a:solidFill>
                <a:latin typeface="Aptos"/>
              </a:rPr>
              <a:t>Cobertura mínima
por combinação</a:t>
            </a:r>
            <a:endParaRPr sz="1400" b="0" dirty="0">
              <a:solidFill>
                <a:srgbClr val="2D3C4B"/>
              </a:solidFill>
              <a:latin typeface="Apto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9226296" y="1481328"/>
            <a:ext cx="2706624" cy="8412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226296" y="1481328"/>
            <a:ext cx="82296" cy="841248"/>
          </a:xfrm>
          <a:prstGeom prst="rect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454896" y="162763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69AE"/>
                </a:solidFill>
                <a:latin typeface="Arial"/>
              </a:rPr>
              <a:t>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67440" y="1854120"/>
            <a:ext cx="21945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 dirty="0" err="1">
                <a:solidFill>
                  <a:srgbClr val="2D3C4B"/>
                </a:solidFill>
                <a:latin typeface="Aptos"/>
              </a:rPr>
              <a:t>Combinações analisadas
pelo enunciado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040" y="2487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324C"/>
                </a:solidFill>
                <a:latin typeface="Arial"/>
              </a:rPr>
              <a:t>Solução executada: combinar variáveis explicativas, aplicar cobertura mínima e comparar as taxas observadas com a taxa global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6032" y="2852928"/>
            <a:ext cx="3703320" cy="144475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420624" y="301752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0624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" y="2919044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 dirty="0">
                <a:solidFill>
                  <a:srgbClr val="2D3C4B"/>
                </a:solidFill>
                <a:latin typeface="Arial"/>
              </a:rPr>
              <a:t>1. Tipo de </a:t>
            </a:r>
            <a:r>
              <a:rPr sz="1600" b="1" dirty="0" err="1">
                <a:solidFill>
                  <a:srgbClr val="2D3C4B"/>
                </a:solidFill>
                <a:latin typeface="Arial"/>
              </a:rPr>
              <a:t>pista</a:t>
            </a:r>
            <a:r>
              <a:rPr sz="1600" b="1" dirty="0">
                <a:solidFill>
                  <a:srgbClr val="2D3C4B"/>
                </a:solidFill>
                <a:latin typeface="Arial"/>
              </a:rPr>
              <a:t> × </a:t>
            </a:r>
            <a:r>
              <a:rPr sz="1600" b="1" dirty="0" err="1">
                <a:solidFill>
                  <a:srgbClr val="2D3C4B"/>
                </a:solidFill>
                <a:latin typeface="Arial"/>
              </a:rPr>
              <a:t>fase</a:t>
            </a:r>
            <a:r>
              <a:rPr sz="1600" b="1" dirty="0">
                <a:solidFill>
                  <a:srgbClr val="2D3C4B"/>
                </a:solidFill>
                <a:latin typeface="Arial"/>
              </a:rPr>
              <a:t> do </a:t>
            </a:r>
            <a:r>
              <a:rPr sz="1600" b="1" dirty="0" err="1">
                <a:solidFill>
                  <a:srgbClr val="2D3C4B"/>
                </a:solidFill>
                <a:latin typeface="Arial"/>
              </a:rPr>
              <a:t>dia</a:t>
            </a:r>
            <a:endParaRPr sz="1600" b="1" dirty="0">
              <a:solidFill>
                <a:srgbClr val="2D3C4B"/>
              </a:solidFill>
              <a:latin typeface="Arial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24128" y="338328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rial"/>
              </a:rPr>
              <a:t>Maior taxa: Simples + Amanhecer — 14,64%
Simples + Plena Noite — 13,15%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114800" y="2852928"/>
            <a:ext cx="3703320" cy="1444752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4279392" y="301752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79392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2904976"/>
            <a:ext cx="2807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 dirty="0">
                <a:solidFill>
                  <a:srgbClr val="2D3C4B"/>
                </a:solidFill>
                <a:latin typeface="Arial"/>
              </a:rPr>
              <a:t>2. </a:t>
            </a:r>
            <a:r>
              <a:rPr sz="1600" b="1" dirty="0" err="1">
                <a:solidFill>
                  <a:srgbClr val="2D3C4B"/>
                </a:solidFill>
                <a:latin typeface="Arial"/>
              </a:rPr>
              <a:t>Comparação</a:t>
            </a:r>
            <a:r>
              <a:rPr sz="1600" b="1" dirty="0">
                <a:solidFill>
                  <a:srgbClr val="2D3C4B"/>
                </a:solidFill>
                <a:latin typeface="Arial"/>
              </a:rPr>
              <a:t> com a taxa global</a:t>
            </a:r>
            <a:endParaRPr dirty="0"/>
          </a:p>
        </p:txBody>
      </p:sp>
      <p:sp>
        <p:nvSpPr>
          <p:cNvPr id="83" name="TextBox 82"/>
          <p:cNvSpPr txBox="1"/>
          <p:nvPr/>
        </p:nvSpPr>
        <p:spPr>
          <a:xfrm>
            <a:off x="4882896" y="3383280"/>
            <a:ext cx="2788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rial"/>
              </a:rPr>
              <a:t>Taxa global: 7,18%
Simples + Anoitecer — 9,16% | Dupla + Plena Noite — 7,62%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973568" y="2852928"/>
            <a:ext cx="3959352" cy="1444752"/>
          </a:xfrm>
          <a:prstGeom prst="roundRect">
            <a:avLst/>
          </a:prstGeom>
          <a:solidFill>
            <a:srgbClr val="FFF8E5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138160" y="3017520"/>
            <a:ext cx="384048" cy="384048"/>
          </a:xfrm>
          <a:prstGeom prst="ellipse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38160" y="314553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41664" y="30175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rial"/>
              </a:rPr>
              <a:t>3. Causa × tipo de acidente</a:t>
            </a:r>
            <a:endParaRPr dirty="0"/>
          </a:p>
        </p:txBody>
      </p:sp>
      <p:sp>
        <p:nvSpPr>
          <p:cNvPr id="88" name="TextBox 87"/>
          <p:cNvSpPr txBox="1"/>
          <p:nvPr/>
        </p:nvSpPr>
        <p:spPr>
          <a:xfrm>
            <a:off x="8726424" y="3383280"/>
            <a:ext cx="3044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rial"/>
              </a:rPr>
              <a:t>Maior taxa: Pedestre na pista + Atropelamento — 42,66%
Contramão + Colisão frontal — 38,50%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6032" y="4498848"/>
            <a:ext cx="5623560" cy="1298448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420624" y="4663440"/>
            <a:ext cx="384048" cy="384048"/>
          </a:xfrm>
          <a:prstGeom prst="ellipse">
            <a:avLst/>
          </a:prstGeom>
          <a:solidFill>
            <a:srgbClr val="1A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2062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24128" y="4663440"/>
            <a:ext cx="4727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rial"/>
              </a:rPr>
              <a:t>4. Outras combinações relevantes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24128" y="5029200"/>
            <a:ext cx="4709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rial"/>
              </a:rPr>
              <a:t>Ultrapassagem indevida + Colisão frontal — 33,33%
Entrada inopinada do pedestre + Atropelamento — 31,27%</a:t>
            </a:r>
            <a:endParaRPr sz="1200" dirty="0"/>
          </a:p>
        </p:txBody>
      </p:sp>
      <p:sp>
        <p:nvSpPr>
          <p:cNvPr id="94" name="Rounded Rectangle 93"/>
          <p:cNvSpPr/>
          <p:nvPr/>
        </p:nvSpPr>
        <p:spPr>
          <a:xfrm>
            <a:off x="6016752" y="4498848"/>
            <a:ext cx="5916168" cy="1298448"/>
          </a:xfrm>
          <a:prstGeom prst="roundRect">
            <a:avLst/>
          </a:prstGeom>
          <a:solidFill>
            <a:srgbClr val="EAF7F3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6181344" y="4663440"/>
            <a:ext cx="384048" cy="384048"/>
          </a:xfrm>
          <a:prstGeom prst="ellipse">
            <a:avLst/>
          </a:prstGeom>
          <a:solidFill>
            <a:srgbClr val="5BA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181344" y="4791456"/>
            <a:ext cx="475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84848" y="4663440"/>
            <a:ext cx="5020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600" b="1">
                <a:solidFill>
                  <a:srgbClr val="2D3C4B"/>
                </a:solidFill>
                <a:latin typeface="Arial"/>
              </a:rPr>
              <a:t>5. Critério de interpretação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84848" y="5029200"/>
            <a:ext cx="50017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100" b="0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0">
                <a:solidFill>
                  <a:srgbClr val="2D3C4B"/>
                </a:solidFill>
                <a:latin typeface="Arial"/>
              </a:rPr>
              <a:t>Cobertura mínima: 500 acidentes por combinação
Associações observadas; não permitem afirmar causalidade.</a:t>
            </a:r>
            <a:endParaRPr sz="1200" dirty="0"/>
          </a:p>
        </p:txBody>
      </p:sp>
      <p:sp>
        <p:nvSpPr>
          <p:cNvPr id="99" name="Rounded Rectangle 98"/>
          <p:cNvSpPr/>
          <p:nvPr/>
        </p:nvSpPr>
        <p:spPr>
          <a:xfrm>
            <a:off x="256032" y="5925312"/>
            <a:ext cx="11676888" cy="438912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438912" y="58978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243746"/>
                </a:solidFill>
                <a:latin typeface="Aptos"/>
              </a:defRPr>
            </a:lvl1pPr>
          </a:lstStyle>
          <a:p>
            <a:r>
              <a:rPr sz="1400" b="1">
                <a:solidFill>
                  <a:srgbClr val="2D3C4B"/>
                </a:solidFill>
                <a:latin typeface="Arial"/>
              </a:rPr>
              <a:t>Observação: as taxas representam a proporção de acidentes fatais dentro de cada combinação. A comparação usa 7,18% como referência global.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235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Wellington Lima</dc:creator>
  <cp:keywords/>
  <dc:description>generated using python-pptx</dc:description>
  <cp:lastModifiedBy>Wellington</cp:lastModifiedBy>
  <cp:revision>7</cp:revision>
  <dcterms:created xsi:type="dcterms:W3CDTF">2013-01-27T09:14:16Z</dcterms:created>
  <dcterms:modified xsi:type="dcterms:W3CDTF">2026-09-21T00:07:40Z</dcterms:modified>
  <cp:category/>
</cp:coreProperties>
</file>